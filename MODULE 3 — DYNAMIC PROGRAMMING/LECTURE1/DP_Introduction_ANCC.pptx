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83" r:id="rId11"/>
    <p:sldId id="269" r:id="rId12"/>
    <p:sldId id="270" r:id="rId13"/>
    <p:sldId id="284" r:id="rId14"/>
    <p:sldId id="271" r:id="rId15"/>
    <p:sldId id="272" r:id="rId16"/>
    <p:sldId id="285" r:id="rId17"/>
    <p:sldId id="273" r:id="rId18"/>
    <p:sldId id="274" r:id="rId19"/>
    <p:sldId id="282" r:id="rId20"/>
    <p:sldId id="275" r:id="rId21"/>
    <p:sldId id="276" r:id="rId22"/>
    <p:sldId id="281" r:id="rId23"/>
    <p:sldId id="277" r:id="rId24"/>
    <p:sldId id="278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043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D27D-E792-50B5-49B5-8FB64933B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2CDA8-F4DB-9602-7ED0-7FFCB7ED2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A1244-C7EB-EFFC-CFAE-3268040A5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6F65D-3826-697F-08FA-E2A90D21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11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3DAC1-2EA7-5305-C0AF-E7C57171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AB832-928C-3D73-E969-1FF37D5BE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FEC92-27CA-44A6-1CD6-0A35BF6BA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CB889-FF52-C90F-ED5C-C84C54C96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19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C7708-8841-91F2-969B-D32BAE63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B5103-2586-1282-2178-C198A09AC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851C8-0778-B021-EC9A-06D1684FA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DD44F-B0FB-A3E6-C64A-6B0359BD0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68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C962B-2DAD-CAA1-9000-A7686D38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29CE9-75C9-994A-534F-B627731DA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4B532-863B-064A-4E26-A8EAC04AD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A9549-7856-06CD-6E3E-540E6E379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082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2A5A2-D7E4-A9B9-8C6F-57391B11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75EEC-5928-347C-5915-25B857FD9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2306F-F682-70D6-ED07-7A8F636B4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1A513-4A8A-B0C7-2FEF-75AAC3FD76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889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F37D8-7B1B-36C7-1A98-FED933D9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5D1B7-001D-BABA-6D35-FD5BB9A30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BD3AE-8178-ED2D-F57F-5EB7C17A7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E5E9B-B9F8-F7E7-566E-CC76DA87E7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75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0"/>
            <a:ext cx="91440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A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solidFill>
                <a:srgbClr val="9900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600" dirty="0">
              <a:solidFill>
                <a:srgbClr val="9900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600" dirty="0">
              <a:solidFill>
                <a:srgbClr val="9900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Patterns · Problems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7773" y="3015410"/>
            <a:ext cx="2743200" cy="36576"/>
          </a:xfrm>
          <a:prstGeom prst="rect">
            <a:avLst/>
          </a:prstGeom>
          <a:solidFill>
            <a:srgbClr val="D4A0AA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700010"/>
          </a:solidFill>
          <a:ln w="12700">
            <a:solidFill>
              <a:srgbClr val="7000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18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  |  Dynamic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of the Slides / Lecture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Dynamic Programming?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Recursion vs Memoization vs Tabulation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Identifying DP Problems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States, Transitions &amp; Recurrences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Practice Problems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Dynamic Programming?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9434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71323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(DP)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algorithmic technique for solving optimisation and counting problems by breaking them into </a:t>
            </a: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sub-problems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solving each sub-problem exactly once, and storing the result to avoid redundant </a:t>
            </a:r>
            <a:r>
              <a:rPr lang="en-US" sz="14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recomputation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5760" y="147007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Mandatory Properties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023360" cy="1225296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50292" cy="122529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82880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Optimal Substructure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2103120"/>
            <a:ext cx="3858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solution to the problem can be built from optimal solutions of its sub-problems.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Shortest path in a DAG — the shortest path to v is the best of (shortest to u + edge </a:t>
            </a:r>
            <a:r>
              <a:rPr lang="en-US" sz="11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u→v</a:t>
            </a: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023360" cy="1225296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54864" cy="1225296"/>
          </a:xfrm>
          <a:prstGeom prst="rect">
            <a:avLst/>
          </a:prstGeom>
          <a:solidFill>
            <a:srgbClr val="B81C2E"/>
          </a:solidFill>
          <a:ln w="12700">
            <a:solidFill>
              <a:srgbClr val="B81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82880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Overlapping Sub-problems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2103120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sub-problem is encountered multiple times during a naive recursive computation.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fib(5) calls fib(3) twice; fib(3) calls fib(1) twice. Memoisation collapses these.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b="1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27355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vs Memoisation vs Tabulation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685800"/>
            <a:ext cx="2834640" cy="32004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685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Recursion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" y="1005840"/>
            <a:ext cx="2834640" cy="1207008"/>
          </a:xfrm>
          <a:prstGeom prst="rect">
            <a:avLst/>
          </a:prstGeom>
          <a:solidFill>
            <a:srgbClr val="F4F6F7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051560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mathematical recurrence directly.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function recursively for sub-problems.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Exponential — same sub-problem solved multiple times.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2258568"/>
            <a:ext cx="283464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" y="2331720"/>
            <a:ext cx="261518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fib(int 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 &lt;= 1) return 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fib(n-1) + fib(n-2);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82112" y="685800"/>
            <a:ext cx="2834640" cy="3200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685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(Memoisation)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82112" y="1005840"/>
            <a:ext cx="2834640" cy="1207008"/>
          </a:xfrm>
          <a:prstGeom prst="rect">
            <a:avLst/>
          </a:prstGeom>
          <a:solidFill>
            <a:srgbClr val="F4F6F7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051560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recursion with a cache (map / array).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computing, check if answer is already stored.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O(states × transition cost).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82112" y="2258568"/>
            <a:ext cx="283464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2331720"/>
            <a:ext cx="261518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memo[MAXN];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fib(int 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 &lt;= 1) return 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(memo[n] != -1)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memo[n];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memo[n]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fib(n-1) + fib(n-2);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63056" y="685800"/>
            <a:ext cx="2834640" cy="3200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685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(Tabulation)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3056" y="1005840"/>
            <a:ext cx="2834640" cy="1207008"/>
          </a:xfrm>
          <a:prstGeom prst="rect">
            <a:avLst/>
          </a:prstGeom>
          <a:solidFill>
            <a:srgbClr val="F4F6F7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051560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 table iteratively from base cases upward.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recursion stack overhead.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O(states × transition cost). Usually fastest in practice.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63056" y="2258568"/>
            <a:ext cx="283464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72784" y="2331720"/>
            <a:ext cx="261518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dp[MAXN];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0; dp[1] = 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2; i &lt;= n; i++)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dp[i] = dp[i-1]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dp[i-2];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Space O(1) possible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270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which approach?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544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Memoisation when the state space is sparse or hard to order. Use Tabulation when you need maximum speed and minimal overhead. Both achieve the same asymptotic complexity.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DP Problems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two-question test (ask both):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987552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problem be broken into sub-problems of the same type?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sub-problems repeat? (Would a recursive tree have repeated nodes?)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asked for an optimum (min/max) or a count of ways?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 signals that hint at DP: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212848"/>
            <a:ext cx="36576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"Minimum cost / Maximum profit"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22128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— try all choices and keep the best.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2628900"/>
            <a:ext cx="36576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289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"Count the number of ways"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0" y="26289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— sum over all valid choices.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044952"/>
            <a:ext cx="36576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44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possible to…"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0" y="30449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— OR over sub-problem answers.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461004"/>
            <a:ext cx="36576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610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"Longest / Shortest subsequence"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06240" y="34610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sequence DP, O(n²) or O(n log n).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" y="3877056"/>
            <a:ext cx="36576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77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n ≤ 20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06240" y="388409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Bitmask DP — enumerate subsets in 2^n.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" y="4293108"/>
            <a:ext cx="36576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931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n ≤ 400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206240" y="42931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 interval DP or matrix chain style.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Transitions and Recurrences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description of a sub-problem. Everything needed to compute dp[state] without knowing HOW we arrived there.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recurrence relation that expresses dp[state] in terms of smaller/previously computed states.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5760" y="16093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DP solution — step by step: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1965960"/>
            <a:ext cx="274320" cy="2743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the state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90672" y="19659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dp[i] (or dp[i][j], dp[mask], …) represent? Write it in plain English first.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2496312"/>
            <a:ext cx="274320" cy="2743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the recurrence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90672" y="24963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dp[state] as a function of strictly smaller states. Consider ALL choices at this state.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" y="3026664"/>
            <a:ext cx="274320" cy="2743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3026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base cases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90672" y="30266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answer for the smallest / trivially answerable sub-problems?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7472" y="3557016"/>
            <a:ext cx="274320" cy="2743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Determine evaluation order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90672" y="35570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dp[state] is computed before it is needed. For tables: left-to-right, or topological order.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7472" y="4087368"/>
            <a:ext cx="274320" cy="2743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Extract the answer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097706" y="409440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typically dp[n], dp[0][n], or min/max over a set of final states.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1D DP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034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DP: the state is a single index i. Each position makes a choice that determines the next valid positions.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234440"/>
            <a:ext cx="8430768" cy="1078992"/>
          </a:xfrm>
          <a:prstGeom prst="rect">
            <a:avLst/>
          </a:prstGeom>
          <a:solidFill>
            <a:srgbClr val="F8F0F2"/>
          </a:solidFill>
          <a:ln w="8890">
            <a:solidFill>
              <a:srgbClr val="D4A0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234440"/>
            <a:ext cx="45720" cy="10789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80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Increasing Subsequence (LIS)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5270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max over all j &lt; i where A[j] &lt; A[i] of (dp[j] + 1)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Base: dp[i] = 1 for all i.  Answer: max(dp[i]).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3441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with simple DP.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7157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25328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657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9044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7216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7472" y="1261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at the bottom of a staircase with n steps. At every step you may jump exactly 1, 2, or 3 steps forward. Given n (1 ≤ n ≤ 10^6), count the number of distinct ways to reach step n, modulo 10^9 + 7. Two ways are distinct if at any point they choose a different jump size.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2212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Observation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 i there are at most 3 choices: arrive from step i-1, i-2, or i-3. The total ways to reach step i is the sum of ways to reach each of those predecessors. This is a direct 1-D DP where each state depends on the previous three states only.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Definition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7472" y="3547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602736"/>
            <a:ext cx="393192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02736"/>
            <a:ext cx="50292" cy="10972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4845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dp[...] means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922776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 = number of distinct ways to reach step i from step 0 using jumps of 1, 2, or 3.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3602736"/>
            <a:ext cx="429768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602736"/>
            <a:ext cx="50292" cy="1097280"/>
          </a:xfrm>
          <a:prstGeom prst="rect">
            <a:avLst/>
          </a:prstGeom>
          <a:solidFill>
            <a:srgbClr val="B81C2E"/>
          </a:solidFill>
          <a:ln w="12700">
            <a:solidFill>
              <a:srgbClr val="B81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64845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0288" y="392277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 = dp[i-1] + dp[i-2] + dp[i-3]  (add zero for non-existent steps)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three jump sizes contributes independently.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Cases &amp; Answer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7472" y="932688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dp[0] = 1 (one way to stand at the base — do nothing).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dp[1] = 1 (only a single step of size 1).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dp[2] = 2 (1+1 or 2).  dp[3] = 4 (1+1+1, 1+2, 2+1, 3).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dp[n]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3F466-4AB0-AB53-7C27-2375AF79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19F8DD-2FD8-8596-8CD8-3ED6A19A7900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507CF8-7A2E-DE79-4414-C76A5736E2D3}"/>
              </a:ext>
            </a:extLst>
          </p:cNvPr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6E2F9B-13E0-C065-8E9D-45E0EB8BC9E4}"/>
              </a:ext>
            </a:extLst>
          </p:cNvPr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46556F-9698-3A5E-2488-98E0725D281A}"/>
              </a:ext>
            </a:extLst>
          </p:cNvPr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788793-29AA-D458-9E5A-B31EFFEC312B}"/>
              </a:ext>
            </a:extLst>
          </p:cNvPr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D23FCA-C1B1-8AD9-1603-AF5DB4F8D309}"/>
              </a:ext>
            </a:extLst>
          </p:cNvPr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2D6D61B-2620-FCC6-34B1-FCB001F95079}"/>
              </a:ext>
            </a:extLst>
          </p:cNvPr>
          <p:cNvSpPr/>
          <p:nvPr/>
        </p:nvSpPr>
        <p:spPr>
          <a:xfrm>
            <a:off x="347472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</a:t>
            </a:r>
            <a:endParaRPr lang="en-US" sz="13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805C2BE-2999-35CD-3AE3-4B6CECFCB58E}"/>
              </a:ext>
            </a:extLst>
          </p:cNvPr>
          <p:cNvSpPr/>
          <p:nvPr/>
        </p:nvSpPr>
        <p:spPr>
          <a:xfrm>
            <a:off x="371387" y="891188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4E44E37-8800-1645-991E-FC6478294B99}"/>
              </a:ext>
            </a:extLst>
          </p:cNvPr>
          <p:cNvSpPr/>
          <p:nvPr/>
        </p:nvSpPr>
        <p:spPr>
          <a:xfrm>
            <a:off x="356616" y="950976"/>
            <a:ext cx="8430768" cy="3817972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BA0E21C-FAAF-C496-536E-78DA8C9B5DDC}"/>
              </a:ext>
            </a:extLst>
          </p:cNvPr>
          <p:cNvSpPr/>
          <p:nvPr/>
        </p:nvSpPr>
        <p:spPr>
          <a:xfrm>
            <a:off x="481115" y="994586"/>
            <a:ext cx="8211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MOD = 1e9 + 7;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Space-optimised: only last 3 values needed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long a = 1, b = 1, c = 2;  // dp[0], dp[1], dp[2]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0) { cout &lt;&lt; 1; return 0;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1) { cout &lt;&lt; 1; return 0;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2) { cout &lt;&lt; 2; return 0;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long curr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3; i &lt;= n; i++)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 = (a + b + c) % MOD;   // dp[i] = dp[i-1]+dp[i-2]+dp[i-3]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= b;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 = 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 = curr;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curr &lt;&lt; "\n";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Time: O(n)  |  Space: O(1)  — rolling variables replace the full array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060892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7472" y="1261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 fence segments in a row. Segment i can be painted in one of k colours, each with cost[i][c] (0-indexed). The only constraint is that no two adjacent segments may have the same colour. Given n ≤ 500 and k ≤ 50, find the minimum total painting cost. Output -1 if it is impossible (always possible when k ≥ 2).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2212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Observation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segment i we try every colour c. The minimum cost when we colour segment i with colour c is: min over all colours prev ≠ c of dp[i-1][prev], plus cost[i][c]. We can precompute the minimum and second-minimum of the previous row to answer each query in O(1), giving O(n·k) overall.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Definition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7472" y="3547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602736"/>
            <a:ext cx="393192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02736"/>
            <a:ext cx="50292" cy="10972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4845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dp[...] means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922776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dp[i][c] = minimum cost to paint segments 0..i such that segment i is painted colour c.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3602736"/>
            <a:ext cx="429768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602736"/>
            <a:ext cx="50292" cy="1097280"/>
          </a:xfrm>
          <a:prstGeom prst="rect">
            <a:avLst/>
          </a:prstGeom>
          <a:solidFill>
            <a:srgbClr val="B81C2E"/>
          </a:solidFill>
          <a:ln w="12700">
            <a:solidFill>
              <a:srgbClr val="B81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64845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0288" y="392277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dp[i][c] = cost[i][c] + min over all prev where prev ≠ c of dp[i-1][prev].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precomputed row-minimum and row-second-minimum to apply this in O(1) per cell.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Cases &amp; Answer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7472" y="932688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dp[0][c] = cost[0][c]  for all colours c.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entries initialised to INF.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min over all c of dp[n-1][c]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00B7A-2FA4-9262-7A9F-E9797C5D4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13251D-142F-65D1-A47B-BE281CF27FEC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9731A3-B3D6-2BE2-EB70-6E4782E0A231}"/>
              </a:ext>
            </a:extLst>
          </p:cNvPr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39F39F-DDFF-5E87-8AEA-AA8BDF932FFB}"/>
              </a:ext>
            </a:extLst>
          </p:cNvPr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97087A-5BC9-DE6E-E4CB-6A233A3F569E}"/>
              </a:ext>
            </a:extLst>
          </p:cNvPr>
          <p:cNvSpPr/>
          <p:nvPr/>
        </p:nvSpPr>
        <p:spPr>
          <a:xfrm>
            <a:off x="164592" y="481185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5B2D4B-00D8-D180-7608-317BCFAD3F7E}"/>
              </a:ext>
            </a:extLst>
          </p:cNvPr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DAC9C5-B8D3-D58E-4C4D-4E293AADB4D4}"/>
              </a:ext>
            </a:extLst>
          </p:cNvPr>
          <p:cNvSpPr/>
          <p:nvPr/>
        </p:nvSpPr>
        <p:spPr>
          <a:xfrm>
            <a:off x="7772400" y="481185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59C913-588F-A9F6-AF8A-AB68DEC5CFEA}"/>
              </a:ext>
            </a:extLst>
          </p:cNvPr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1A7E0B1-9A33-3665-8927-401A49DFDEE1}"/>
              </a:ext>
            </a:extLst>
          </p:cNvPr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B492934-A3EB-A100-67E7-B2631D3307F2}"/>
              </a:ext>
            </a:extLst>
          </p:cNvPr>
          <p:cNvSpPr/>
          <p:nvPr/>
        </p:nvSpPr>
        <p:spPr>
          <a:xfrm>
            <a:off x="365760" y="15819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EEA4354-02CB-BE1C-D5E5-E4BF408936F4}"/>
              </a:ext>
            </a:extLst>
          </p:cNvPr>
          <p:cNvSpPr/>
          <p:nvPr/>
        </p:nvSpPr>
        <p:spPr>
          <a:xfrm>
            <a:off x="347472" y="63937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</a:t>
            </a:r>
            <a:endParaRPr lang="en-US" sz="13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1CC20B8-9E09-7816-87B7-E4451E3D6BF5}"/>
              </a:ext>
            </a:extLst>
          </p:cNvPr>
          <p:cNvSpPr/>
          <p:nvPr/>
        </p:nvSpPr>
        <p:spPr>
          <a:xfrm>
            <a:off x="347472" y="877121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B0690A1-15D1-3C01-4CD8-5D243B6E6DEF}"/>
              </a:ext>
            </a:extLst>
          </p:cNvPr>
          <p:cNvSpPr/>
          <p:nvPr/>
        </p:nvSpPr>
        <p:spPr>
          <a:xfrm>
            <a:off x="347472" y="987551"/>
            <a:ext cx="8430768" cy="3812345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8654AC-FE2D-D6E0-492F-0311C280BFD1}"/>
              </a:ext>
            </a:extLst>
          </p:cNvPr>
          <p:cNvSpPr/>
          <p:nvPr/>
        </p:nvSpPr>
        <p:spPr>
          <a:xfrm>
            <a:off x="438912" y="1005840"/>
            <a:ext cx="8211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n, k;  cin &gt;&gt; n &gt;&gt; 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vector&lt;vector&lt;int&gt;&gt; cost(n, vector&lt;int&gt;(k));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(auto &amp;row : cost)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(auto &amp;v : row) cin &gt;&gt; v;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long long INF = 1e18;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dp[c] = min cost ending at current segment with colour c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vector&lt;long long&gt; dp(k), ndp(k);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c = 0; c &lt; k; c++) dp[c] = cost[0][c];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 n; i++)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find min and second-min of dp[]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long m1 = INF, m2 = INF;  int idx1 = -1;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c = 0; c &lt; k; c++) {</a:t>
            </a:r>
            <a:endParaRPr lang="en-US" sz="800" dirty="0"/>
          </a:p>
          <a:p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if (dp[c] &lt; m1) { m2 = m1; m1 = dp[c]; idx1 = c;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if (dp[c] &lt; m2) m2 = dp[c];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c = 0; c &lt; k; c++)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long long best = (c == idx1) ? m2 : m1;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ndp[c] = (best == INF) ? INF : best + cost[i][c];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 = ndp;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*min_element(dp.begin(), dp.end()) &lt;&lt; "\n";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Time: O(n*k)  |  Space: O(k)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15673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7472" y="1261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an n × m grid (n, m ≤ 500). Cell (i, j) contains chips[i][j] chips (possibly 0 or negative — some cells are traps). Starting from cell (0, 0) and moving only RIGHT or DOWN one step at a time, reach cell (n-1, m-1) while collecting the maximum total chips. Output the maximum sum along any such path.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2212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Observation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can only move right or down, each cell (i, j) can be reached from exactly two previous cells: (i-1, j) from above, or (i, j-1) from the left. We want the maximum accumulated sum, so dp[i][j] = max of incoming paths plus the chips at (i, j). Classic 2D grid DP.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Definition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7472" y="3547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602736"/>
            <a:ext cx="393192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02736"/>
            <a:ext cx="50292" cy="10972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4845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dp[...] means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922776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dp[i][j] = maximum chips collectible on any valid path from (0,0) to cell (i,j).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3602736"/>
            <a:ext cx="429768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602736"/>
            <a:ext cx="50292" cy="1097280"/>
          </a:xfrm>
          <a:prstGeom prst="rect">
            <a:avLst/>
          </a:prstGeom>
          <a:solidFill>
            <a:srgbClr val="B81C2E"/>
          </a:solidFill>
          <a:ln w="12700">
            <a:solidFill>
              <a:srgbClr val="B81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64845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0288" y="392277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dp[i][j] = chips[i][j] + max(dp[i-1][j], dp[i][j-1]).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predecessor exists on the border: dp[i][0] is top-only, dp[0][j] is left-only.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Cases &amp; Answer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7472" y="932688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dp[0][0] = chips[0][0].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dp[i][0] = dp[i-1][0] + chips[i][0]  (only way: always come from above).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dp[0][j] = dp[0][j-1] + chips[0][j]  (only way: always come from left).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dp[n-1][m-1]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4C705-A14D-B645-7616-975FF8CE1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2E8AEF-D2C2-A444-1A1C-FE92B0C2DE58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3EEC37-359C-3550-75F2-6BE6E0CD600D}"/>
              </a:ext>
            </a:extLst>
          </p:cNvPr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12CF7FA-5282-09D2-61E4-F72FDF36B5AA}"/>
              </a:ext>
            </a:extLst>
          </p:cNvPr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A46794-AB4D-3412-B0E7-95E0A3743C45}"/>
              </a:ext>
            </a:extLst>
          </p:cNvPr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D0D35E-3DAA-50A7-D1CA-3942B18B6C9F}"/>
              </a:ext>
            </a:extLst>
          </p:cNvPr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520AF32-C1BC-C704-93C9-309BD146CF79}"/>
              </a:ext>
            </a:extLst>
          </p:cNvPr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AEF2B2E-D1DE-CE62-6123-773CADD30C8E}"/>
              </a:ext>
            </a:extLst>
          </p:cNvPr>
          <p:cNvSpPr/>
          <p:nvPr/>
        </p:nvSpPr>
        <p:spPr>
          <a:xfrm>
            <a:off x="347472" y="584513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</a:t>
            </a:r>
            <a:endParaRPr lang="en-US" sz="13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C8732D0-F0A7-D8D9-1462-9D2E2CB00169}"/>
              </a:ext>
            </a:extLst>
          </p:cNvPr>
          <p:cNvSpPr/>
          <p:nvPr/>
        </p:nvSpPr>
        <p:spPr>
          <a:xfrm>
            <a:off x="356616" y="877121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3BCFA7D-615D-35A1-50F2-6D34414BF48C}"/>
              </a:ext>
            </a:extLst>
          </p:cNvPr>
          <p:cNvSpPr/>
          <p:nvPr/>
        </p:nvSpPr>
        <p:spPr>
          <a:xfrm>
            <a:off x="347472" y="1005136"/>
            <a:ext cx="8430768" cy="3758887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78BB743-BF8B-9D09-604C-12B75F3ABD98}"/>
              </a:ext>
            </a:extLst>
          </p:cNvPr>
          <p:cNvSpPr/>
          <p:nvPr/>
        </p:nvSpPr>
        <p:spPr>
          <a:xfrm>
            <a:off x="438912" y="1141594"/>
            <a:ext cx="8211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n, m;  cin &gt;&gt; n &gt;&gt; 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vector&lt;vector&lt;long long&gt;&gt; g(n, vector&lt;long long&gt;(m));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(auto &amp;row : g) for (auto &amp;v : row) cin &gt;&gt; v;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long long NEG_INF = -1e18;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vector&lt;vector&lt;long long&gt;&gt; dp(n, vector&lt;long long&gt;(m, NEG_INF));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dp[0][0] = g[0][0];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 n; i++) dp[i][0] = dp[i-1][0] + g[i][0];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1; j &lt; m; j++) dp[0][j] = dp[0][j-1] + g[0][j];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 n; i++)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1; j &lt; m; j++)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= g[i][j] + max(dp[i-1][j], dp[i][j-1]);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dp[n-1][m-1] &lt;&lt; "\n";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Time: O(n*m)  |  Space: O(n*m)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1892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7472" y="1261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is encoded as a digit string S of length L (1 ≤ L ≤ 10^5). To decode it, split S into contiguous substrings where each substring represents an integer in the range [1, 26]. Count the total number of distinct valid decodings modulo 10^9 + 7. A substring that has a leading zero (other than the single character '0') or whose value exceeds 26 is invalid.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2212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Observation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position i we can either take one digit (always valid as long as it isn't '0') or take two digits (valid if the two-digit number is in [10, 26]). Each valid single-digit group or valid two-digit group independently contributes to the number of decodings, giving a straightforward 1-D DP on the string index.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Definition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7472" y="3547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602736"/>
            <a:ext cx="393192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02736"/>
            <a:ext cx="50292" cy="10972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4845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dp[...] means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922776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 = number of ways to fully decode the prefix S[0..i-1] (first i characters of S).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3602736"/>
            <a:ext cx="429768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602736"/>
            <a:ext cx="50292" cy="1097280"/>
          </a:xfrm>
          <a:prstGeom prst="rect">
            <a:avLst/>
          </a:prstGeom>
          <a:solidFill>
            <a:srgbClr val="B81C2E"/>
          </a:solidFill>
          <a:ln w="12700">
            <a:solidFill>
              <a:srgbClr val="B81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64845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0288" y="392277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 += dp[i-1]  if S[i-1] != '0'  (take one digit ending at position i).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 += dp[i-2]  if i &gt;= 2 and 10 &lt;= int(S[i-2..i-1]) &lt;= 26  (take two digits).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Cases &amp; Answer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7472" y="932688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dp[0] = 1 (empty prefix — one way to decode nothing).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dp[1] = 1 if S[0] != '0', else 0.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dp[L]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04E4C-6370-96BB-C5C4-BF7B50CB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B9BF89-5C14-E581-1626-420322775F96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BE7E3D-8A78-730A-ABD7-7C0264C698BD}"/>
              </a:ext>
            </a:extLst>
          </p:cNvPr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7DD76D-480E-E3D8-2E6A-C395F0E77345}"/>
              </a:ext>
            </a:extLst>
          </p:cNvPr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F9F0E0-A92C-4F5F-6D8E-2765D3AD44A4}"/>
              </a:ext>
            </a:extLst>
          </p:cNvPr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9963FD-59C5-6777-71BA-70B50ABB65E2}"/>
              </a:ext>
            </a:extLst>
          </p:cNvPr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136C28-D6E5-25E1-6D7D-D0DDC7D99B47}"/>
              </a:ext>
            </a:extLst>
          </p:cNvPr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33F3C98-345A-8DBC-A039-D219D91E1A08}"/>
              </a:ext>
            </a:extLst>
          </p:cNvPr>
          <p:cNvSpPr/>
          <p:nvPr/>
        </p:nvSpPr>
        <p:spPr>
          <a:xfrm>
            <a:off x="347472" y="577479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</a:t>
            </a:r>
            <a:endParaRPr lang="en-US" sz="13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5FEE96C-74CA-60AC-2DDA-EE9AD1E736EF}"/>
              </a:ext>
            </a:extLst>
          </p:cNvPr>
          <p:cNvSpPr/>
          <p:nvPr/>
        </p:nvSpPr>
        <p:spPr>
          <a:xfrm>
            <a:off x="329184" y="815223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D4C8FE6-B7C6-F5E1-588C-8454EF66C4F0}"/>
              </a:ext>
            </a:extLst>
          </p:cNvPr>
          <p:cNvSpPr/>
          <p:nvPr/>
        </p:nvSpPr>
        <p:spPr>
          <a:xfrm>
            <a:off x="329184" y="953086"/>
            <a:ext cx="8430768" cy="3762404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B61D569-2FB5-F2EE-0E85-55AE83A5606F}"/>
              </a:ext>
            </a:extLst>
          </p:cNvPr>
          <p:cNvSpPr/>
          <p:nvPr/>
        </p:nvSpPr>
        <p:spPr>
          <a:xfrm>
            <a:off x="438912" y="1071255"/>
            <a:ext cx="8211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MOD = 1e9 + 7;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s;  cin &gt;&gt; 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 = s.size();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vector&lt;long long&gt; dp(L + 1, 0);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1;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dp[1] = (s[0] != '0') ? 1 : 0;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2; i &lt;= L; i++)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Single-digit group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(s[i-1] != '0')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 = (dp[i] + dp[i-1]) % MOD;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Two-digit group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two = (s[i-2] - '0') * 10 + (s[i-1] - '0');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(two &gt;= 10 &amp;&amp; two &lt;= 26)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 = (dp[i] + dp[i-2]) % MOD;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dp[L] &lt;&lt; "\n";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Time: O(L)  |  Space: O(L)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pitfall: leading zeros make a group invalid even if value &lt;= 26.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89559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</a:t>
            </a: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7472" y="1261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n tasks arranged in a circle (0-indexed: 0, 1, …, n-1), each with a positive score s[i] (n ≤ 10^5). You may select any subset of tasks, but you cannot select two adjacent tasks (in the circular arrangement, task 0 and task n-1 are also adjacent). Maximise the total score of selected tasks.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2212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Observation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 adjacency constraint prevents a direct linear DP. Break the circle into two linear problems: (A) tasks 0..n-2 (task 0 included, task n-1 excluded) and (B) tasks 1..n-1 (task 0 excluded, task n-1 included). The answer is max(linear_DP(A), linear_DP(B)).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Definition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7472" y="3547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602736"/>
            <a:ext cx="393192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02736"/>
            <a:ext cx="50292" cy="10972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4845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dp[...] means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922776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linear sub-array: dp[i] = maximum score using a subset of tasks 0..i with no two adjacent tasks selected.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3602736"/>
            <a:ext cx="429768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602736"/>
            <a:ext cx="50292" cy="1097280"/>
          </a:xfrm>
          <a:prstGeom prst="rect">
            <a:avLst/>
          </a:prstGeom>
          <a:solidFill>
            <a:srgbClr val="B81C2E"/>
          </a:solidFill>
          <a:ln w="12700">
            <a:solidFill>
              <a:srgbClr val="B81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64845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0288" y="392277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 = max(dp[i-1],  dp[i-2] + s[i]).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Either skip task i (carry dp[i-1]), or take task i (add s[i] to dp[i-2]).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9434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Cases &amp; Answer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7472" y="932688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dp[0] = s[0],  dp[1] = max(s[0], s[1]).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separately on sub-array A (indices 0..n-2) and sub-array B (indices 1..n-1).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max(linearDP on sub-array A,  linearDP on sub-array B)   (handle n == 1 separately: answer = s[0])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1874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D6C2E-81D7-7D07-4D3A-C5595FBC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C8C0AA-4ACD-DE92-67D0-FD67834FCC44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24A435-2198-90DA-74F3-A3D8A1E6CB8B}"/>
              </a:ext>
            </a:extLst>
          </p:cNvPr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A13893-A9FB-C7A9-25EF-DB0B458DB241}"/>
              </a:ext>
            </a:extLst>
          </p:cNvPr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E73295-CBBA-70C0-DCCC-CFCB0EACC96A}"/>
              </a:ext>
            </a:extLst>
          </p:cNvPr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06F3E8-8B6A-5C88-5B20-9CE2CC065AAD}"/>
              </a:ext>
            </a:extLst>
          </p:cNvPr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3B4CB5-0E70-C3EE-8C24-260111234251}"/>
              </a:ext>
            </a:extLst>
          </p:cNvPr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655FF07-2DD6-AB82-B7A6-ECA88FC43855}"/>
              </a:ext>
            </a:extLst>
          </p:cNvPr>
          <p:cNvSpPr/>
          <p:nvPr/>
        </p:nvSpPr>
        <p:spPr>
          <a:xfrm>
            <a:off x="281354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</a:t>
            </a:r>
            <a:endParaRPr lang="en-US" sz="13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8F7CCCC-A7F9-A893-F14D-0B0C136FEBD3}"/>
              </a:ext>
            </a:extLst>
          </p:cNvPr>
          <p:cNvSpPr/>
          <p:nvPr/>
        </p:nvSpPr>
        <p:spPr>
          <a:xfrm>
            <a:off x="281354" y="859536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5D2A75E-2E31-45D8-53DD-0F8AD5D3A459}"/>
              </a:ext>
            </a:extLst>
          </p:cNvPr>
          <p:cNvSpPr/>
          <p:nvPr/>
        </p:nvSpPr>
        <p:spPr>
          <a:xfrm>
            <a:off x="281354" y="950976"/>
            <a:ext cx="8430768" cy="3831336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61A2E85-67E9-7CE3-40FA-90F32ED03655}"/>
              </a:ext>
            </a:extLst>
          </p:cNvPr>
          <p:cNvSpPr/>
          <p:nvPr/>
        </p:nvSpPr>
        <p:spPr>
          <a:xfrm>
            <a:off x="391082" y="1024831"/>
            <a:ext cx="8211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long linearDP(vector&lt;int&gt;&amp; s, int l, int r)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Max non-adjacent sum in s[l..r]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 &gt; r) return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 == r) return s[l];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long prev2 = s[l], prev1 = max(s[l], s[l+1]), cur = prev1;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l + 2; i &lt;= r; i++)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max(prev1, prev2 + s[i]);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prev2 = prev1;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prev1 = cur;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cur;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n;  cin &gt;&gt; n;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vector&lt;int&gt; s(n);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&amp;v : s) cin &gt;&gt; v;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1) { cout &lt;&lt; s[0]; return 0;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Sub-array A: [0, n-2]  |  Sub-array B: [1, n-1]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long ans = max(linearDP(s, 0, n-2), linearDP(s, 1, n-1));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ans &lt;&lt; "\n";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Time: O(n)  |  Space: O(1)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insight: breaking the circle into two linear scans avoids the circular trap.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58397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432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7472" y="1261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 ore piles in a row with weights w[0], w[1], …, w[n-1] (n ≤ 400). In one merge operation you pick any two adjacent piles and combine them into one pile. The cost of a merge is the weight of the resulting pile (sum of the two). Compute the minimum total cost to merge all n piles into a single pile.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2212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Observation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final merge combines two contiguous groups [l..k] and [k+1..r]. Letting sum[l..r] denote the prefix-sum range, the cost of the last merge is always sum[l..r] regardless of k. So: dp[l][r] = min over k of (dp[l][k] + dp[k+1][r]) + sum[l..r]. Sub-problems are smaller intervals — classic interval DP. Evaluate by increasing interval length.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Definition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7472" y="3547872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602736"/>
            <a:ext cx="393192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02736"/>
            <a:ext cx="50292" cy="10972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4845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dp[...] means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922776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dp[l][r] = minimum total merge cost to reduce the sub-array w[l..r] into one pile.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3602736"/>
            <a:ext cx="4297680" cy="1097280"/>
          </a:xfrm>
          <a:prstGeom prst="rect">
            <a:avLst/>
          </a:prstGeom>
          <a:solidFill>
            <a:srgbClr val="F8F0F2"/>
          </a:solidFill>
          <a:ln w="12700">
            <a:solidFill>
              <a:srgbClr val="D4A0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602736"/>
            <a:ext cx="50292" cy="1097280"/>
          </a:xfrm>
          <a:prstGeom prst="rect">
            <a:avLst/>
          </a:prstGeom>
          <a:solidFill>
            <a:srgbClr val="B81C2E"/>
          </a:solidFill>
          <a:ln w="12700">
            <a:solidFill>
              <a:srgbClr val="B81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64845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0288" y="392277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dp[l][r] = sum(l,r) + min over k in [l, r-1] of (dp[l][k] + dp[k+1][r]).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sum(l,r) = prefix[r+1] - prefix[l].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Cases &amp; Answer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7472" y="932688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dp[i][i] = 0  for all i (a single pile costs nothing to 'merge').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prefix[0] = 0;  prefix[i] = prefix[i-1] + w[i-1].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dp[0][n-1]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1874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2276856"/>
            <a:ext cx="8211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6BD7-1D50-0920-619C-9ABD79ED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A0536C-2895-629A-E6C2-C714F2B16E38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EB939A-285F-8588-5998-46C6C9153496}"/>
              </a:ext>
            </a:extLst>
          </p:cNvPr>
          <p:cNvSpPr/>
          <p:nvPr/>
        </p:nvSpPr>
        <p:spPr>
          <a:xfrm>
            <a:off x="201168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·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624B95-A724-6829-678E-B6DD739C9E4C}"/>
              </a:ext>
            </a:extLst>
          </p:cNvPr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A1E516-65D7-324D-FDB7-39F6653BFC6B}"/>
              </a:ext>
            </a:extLst>
          </p:cNvPr>
          <p:cNvSpPr/>
          <p:nvPr/>
        </p:nvSpPr>
        <p:spPr>
          <a:xfrm>
            <a:off x="164592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ANCC - IIT Delhi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37B65B8-9466-E9C1-6FDB-5D40F66F9225}"/>
              </a:ext>
            </a:extLst>
          </p:cNvPr>
          <p:cNvSpPr/>
          <p:nvPr/>
        </p:nvSpPr>
        <p:spPr>
          <a:xfrm>
            <a:off x="3200400" y="4818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A85F544-1EE6-F384-8677-A32FD87D9B2C}"/>
              </a:ext>
            </a:extLst>
          </p:cNvPr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 25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67238D-04AA-1C97-CBD8-F8C536DA4D14}"/>
              </a:ext>
            </a:extLst>
          </p:cNvPr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9BB0C95-384D-0D13-06D5-DFB36BF3CF73}"/>
              </a:ext>
            </a:extLst>
          </p:cNvPr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EB73DF3-F146-8231-BD1A-533458A64F99}"/>
              </a:ext>
            </a:extLst>
          </p:cNvPr>
          <p:cNvSpPr/>
          <p:nvPr/>
        </p:nvSpPr>
        <p:spPr>
          <a:xfrm>
            <a:off x="246185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</a:t>
            </a:r>
            <a:endParaRPr lang="en-US" sz="13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4277B2E-EB9F-3B10-4528-5C062FAD29AF}"/>
              </a:ext>
            </a:extLst>
          </p:cNvPr>
          <p:cNvSpPr/>
          <p:nvPr/>
        </p:nvSpPr>
        <p:spPr>
          <a:xfrm>
            <a:off x="265176" y="854964"/>
            <a:ext cx="8430768" cy="1828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23B8BD2-5939-63E9-F2CA-5ABE0FB6A8F2}"/>
              </a:ext>
            </a:extLst>
          </p:cNvPr>
          <p:cNvSpPr/>
          <p:nvPr/>
        </p:nvSpPr>
        <p:spPr>
          <a:xfrm>
            <a:off x="265176" y="941832"/>
            <a:ext cx="8430768" cy="3739896"/>
          </a:xfrm>
          <a:prstGeom prst="rect">
            <a:avLst/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stdc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++.h&gt;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n; 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&gt;&gt; n;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vector&lt;int&gt; w(n);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&amp;v : w)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&gt;&gt; v;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Prefix sums for O(1) range sums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vector&lt;long long&gt; pre(n + 1, 0);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n;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pre[i+1] = pre[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w[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long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INF = 1e18;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vector&lt;vector&lt;long long&gt;&gt;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 vector&lt;long long&gt;(n, 0));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Base: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0 (already set)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Fill by increasing interval length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2;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n;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l = 0; l +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- 1 &lt; n; l++) {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r = l +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- 1;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long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rangeSum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pre[r+1] - pre[l];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[l][r] = INF;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k = l; k &lt; r; k++) {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[l][r] = min(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[l][r],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[l][k] +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[k+1][r] +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rangeSum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7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[0][n-1] &lt;&lt; "\n";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r>
              <a:rPr lang="en-US" sz="7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Time: O(n^3)  |  Space: O(n^2)</a:t>
            </a:r>
            <a:endParaRPr lang="en-US" sz="700" dirty="0"/>
          </a:p>
          <a:p>
            <a:endParaRPr lang="en-IN" sz="7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60D46DC-DD32-6C9D-C2A1-6471C8D86B60}"/>
              </a:ext>
            </a:extLst>
          </p:cNvPr>
          <p:cNvSpPr/>
          <p:nvPr/>
        </p:nvSpPr>
        <p:spPr>
          <a:xfrm>
            <a:off x="457200" y="2276856"/>
            <a:ext cx="8211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72772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4655</Words>
  <Application>Microsoft Office PowerPoint</Application>
  <PresentationFormat>On-screen Show (16:9)</PresentationFormat>
  <Paragraphs>500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Dynamic Programming</dc:title>
  <dc:subject>PptxGenJS Presentation</dc:subject>
  <dc:creator>ANCC from IIT Delhi</dc:creator>
  <cp:lastModifiedBy>Tushar 16</cp:lastModifiedBy>
  <cp:revision>3</cp:revision>
  <dcterms:created xsi:type="dcterms:W3CDTF">2026-06-04T19:45:15Z</dcterms:created>
  <dcterms:modified xsi:type="dcterms:W3CDTF">2026-06-04T20:26:13Z</dcterms:modified>
</cp:coreProperties>
</file>